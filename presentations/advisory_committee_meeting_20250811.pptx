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0"/>
    <p:restoredTop sz="94677"/>
  </p:normalViewPr>
  <p:slideViewPr>
    <p:cSldViewPr snapToGrid="0">
      <p:cViewPr varScale="1">
        <p:scale>
          <a:sx n="147" d="100"/>
          <a:sy n="147" d="100"/>
        </p:scale>
        <p:origin x="216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62E91-8462-334F-B2F4-74EDE3A7925F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FD12A-8EDA-FE4B-B15D-05ABF0D6B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6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FD12A-8EDA-FE4B-B15D-05ABF0D6BB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1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FD12A-8EDA-FE4B-B15D-05ABF0D6BB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30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FD12A-8EDA-FE4B-B15D-05ABF0D6BB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49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6234-4ACD-EC97-A46B-512052DEE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66CF5-C0BD-C390-2DA4-D47E3C7A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F0364-60F7-A8BC-5C0D-7C1AE4DE1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4202-E1CA-70DD-50E4-4D5C9D4D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C36EF-2E05-DF84-2593-AF4AC326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0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6AC0-D7C6-C3DD-7A55-59BFD94E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835E3-3BBD-8A63-AE03-6C7D1A349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9092B-1FC7-3274-4C3C-3F8682C6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EAC84-DD20-E3E5-DE2B-67092F66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490ED-3597-3B29-E166-3BC2CF64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F23A-90B1-264B-B35C-C57010BA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F6D93-3B8A-AF0D-1828-4870AA6DB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ED0D9-2969-9078-7734-49BBC7A51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5E134-01B1-55D5-E768-8612B339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C18C1-E213-4572-0291-AC0C5966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7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E9AA-4948-7496-0FD1-1B8847240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C6431-28A3-EB70-78AE-BDE3F521B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CC16B-8395-DA1A-2C46-19722B579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4BDBB-0E58-17F6-B08F-972A0088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455B6-87B5-2FF9-2EDC-7C1912F0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78F0-A7D1-EF0B-A887-1EF25256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92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0EF6-B97A-EB70-EB86-6B93F7C9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233DA-E72B-2C7B-DC87-283211BDA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DCE1A-725A-0151-B9DE-DD5A38D97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3D5A19-FA8C-14A8-3B13-608BE812C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7EA8C-1BC8-08DC-E776-FD0EA32D4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BE4E9-D9AD-420E-6909-1C34C56F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81454E-0298-1507-92B7-C3332E70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F09F2-2688-C692-6FB2-9B2BEE42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930A-06B9-E8E1-3215-F582D78A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ECEB0-DABA-A5F0-A568-80F88E9F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6D25C-9EE6-117A-9C9D-588C1A6E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BB43C-915C-9187-6D31-37330BB8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80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E3CDA-8D99-7E56-8F6E-448CF136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5BDAD-52FC-4BA6-5FAE-E00C216A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5BEBA-6083-27C0-57FD-820A19A8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7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28D8-9B49-D1EB-D13A-541B12686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A5E3-A889-F8D4-1086-E207D501F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9C7DA-084D-6B5C-6147-BC9B1A7D8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100B1-89FF-5AFC-8036-202152E3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F4E9A-EEB4-67DA-655A-8059ED09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8124A-187B-2A67-19D5-B5CD0FF5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6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2255-94AD-725F-ED01-D75E8E0CD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655FEE-488D-FFCA-B2C2-4713AD2E7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53B2A-7223-0B12-9F29-2A149776C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0F31C-F7A4-2781-9459-26EAF2C5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FE165-27EF-A6AD-6B09-7F01B929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0F7E9-E95A-5C5A-9FF6-0BB31FF0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5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3EA1-311F-9121-72A5-8122C2A9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60B17-C2FB-B0BC-5411-46E0B38E1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8C0DC-47C2-21BD-D0AE-AA02E8CA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4D669-E54A-9F68-B52C-B648811A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67079-812A-8996-C051-962120F3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1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4C40B-3E7A-B799-6A87-1619A9DA9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E454F-ECA7-80BA-42D4-AE62768C8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57F21-5546-1B64-FF99-7050C28C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CC17A-78C1-F45E-86A8-1D96A3BE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F64B0-7F35-1D08-AAA3-EB0D629A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8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38F90-4219-F612-DDED-D704F3CB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7E6C5-B68A-FAD9-0C07-99F35E60D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1C38C-00C2-C2FE-2BC0-73170D6D5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19172-B4B7-7C41-B48B-EDA787C7559A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E9D5-B889-93FC-3968-3C4C05156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AED25-5DB9-EF55-FD0C-FBFD2ABAA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2FDB6-116D-654B-AB4A-4F92F954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2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09CB-F3F0-F644-C95E-DF2A0E12C7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Cuesta College Drone Program Advisory Committee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B05B5-056D-15FE-02C4-4E7F24807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August 12, 2026</a:t>
            </a:r>
          </a:p>
        </p:txBody>
      </p:sp>
    </p:spTree>
    <p:extLst>
      <p:ext uri="{BB962C8B-B14F-4D97-AF65-F5344CB8AC3E}">
        <p14:creationId xmlns:p14="http://schemas.microsoft.com/office/powerpoint/2010/main" val="416397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E9CE-7EB4-5661-C180-77260F1E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92FB0-A647-3CD7-B027-5E1C0A92C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Program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Vote to recommend program</a:t>
            </a:r>
          </a:p>
        </p:txBody>
      </p:sp>
    </p:spTree>
    <p:extLst>
      <p:ext uri="{BB962C8B-B14F-4D97-AF65-F5344CB8AC3E}">
        <p14:creationId xmlns:p14="http://schemas.microsoft.com/office/powerpoint/2010/main" val="294700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5E6D-12EA-93A9-C3C0-C2B94FAD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F9A36-5571-B1DB-2603-759741E56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5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025A-61C9-09E2-3DD4-D87CA103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23263" cy="1325563"/>
          </a:xfrm>
        </p:spPr>
        <p:txBody>
          <a:bodyPr/>
          <a:lstStyle/>
          <a:p>
            <a:r>
              <a:rPr lang="en-US" dirty="0"/>
              <a:t>Skilled Trades and Technology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4A51-04DF-BF57-19C6-163AEF807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378234" cy="4351338"/>
          </a:xfrm>
        </p:spPr>
        <p:txBody>
          <a:bodyPr/>
          <a:lstStyle/>
          <a:p>
            <a:r>
              <a:rPr lang="en-US" dirty="0"/>
              <a:t>Drone program will fall under Skilled Trades and Technology Division at Cuesta</a:t>
            </a:r>
          </a:p>
          <a:p>
            <a:r>
              <a:rPr lang="en-US" dirty="0"/>
              <a:t>Focus is on providing real world training for in demand jobs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0F5C2E-ED78-0EB3-99BC-9F6A29E1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3"/>
          <a:stretch>
            <a:fillRect/>
          </a:stretch>
        </p:blipFill>
        <p:spPr>
          <a:xfrm>
            <a:off x="5895702" y="777467"/>
            <a:ext cx="5982608" cy="57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06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DB56-80BA-B924-C690-7D4A4E27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92984-C2C0-5766-9892-84F5CA331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professionals looking to add skills within their domain</a:t>
            </a:r>
          </a:p>
          <a:p>
            <a:r>
              <a:rPr lang="en-US" dirty="0"/>
              <a:t>Job seekers looking to boost CV or enter drone specific domains</a:t>
            </a:r>
          </a:p>
          <a:p>
            <a:r>
              <a:rPr lang="en-US" i="1" dirty="0"/>
              <a:t>Not </a:t>
            </a:r>
            <a:r>
              <a:rPr lang="en-US" dirty="0"/>
              <a:t>hobbyists or the drone curious</a:t>
            </a:r>
          </a:p>
          <a:p>
            <a:r>
              <a:rPr lang="en-US" dirty="0"/>
              <a:t>Expectation is that students plan to use drones in commercial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9119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CB802-8C83-1532-6CA0-9B626A26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Structure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6103C9-BC11-F853-4FC5-BD1940DF753A}"/>
              </a:ext>
            </a:extLst>
          </p:cNvPr>
          <p:cNvGrpSpPr/>
          <p:nvPr/>
        </p:nvGrpSpPr>
        <p:grpSpPr>
          <a:xfrm>
            <a:off x="251113" y="2465564"/>
            <a:ext cx="8063396" cy="3237701"/>
            <a:chOff x="3290404" y="2752947"/>
            <a:chExt cx="8063396" cy="323770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6710503-DE08-6B0A-BB69-0C5BEB6A8440}"/>
                </a:ext>
              </a:extLst>
            </p:cNvPr>
            <p:cNvSpPr/>
            <p:nvPr/>
          </p:nvSpPr>
          <p:spPr>
            <a:xfrm>
              <a:off x="6055376" y="4902927"/>
              <a:ext cx="2533452" cy="108772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AERO 100</a:t>
              </a:r>
            </a:p>
            <a:p>
              <a:pPr algn="ctr"/>
              <a:r>
                <a:rPr lang="en-US" dirty="0"/>
                <a:t>Basic UAV Operator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7D7E3F7-DC80-2155-5F04-8A882728D131}"/>
                </a:ext>
              </a:extLst>
            </p:cNvPr>
            <p:cNvSpPr/>
            <p:nvPr/>
          </p:nvSpPr>
          <p:spPr>
            <a:xfrm>
              <a:off x="6055376" y="2752947"/>
              <a:ext cx="2533452" cy="108772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Advanced Drone Mapping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48AFF06-F944-DD7A-84A6-BC3CF66A7CF9}"/>
                </a:ext>
              </a:extLst>
            </p:cNvPr>
            <p:cNvSpPr/>
            <p:nvPr/>
          </p:nvSpPr>
          <p:spPr>
            <a:xfrm>
              <a:off x="3290404" y="2752947"/>
              <a:ext cx="2533452" cy="108772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Drone Infrastructure Inspection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E132759-7BB4-B8E7-98EB-52CC251A66D8}"/>
                </a:ext>
              </a:extLst>
            </p:cNvPr>
            <p:cNvSpPr/>
            <p:nvPr/>
          </p:nvSpPr>
          <p:spPr>
            <a:xfrm>
              <a:off x="8820348" y="2752947"/>
              <a:ext cx="2533452" cy="1087721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Agricultural Spraying</a:t>
              </a:r>
            </a:p>
          </p:txBody>
        </p:sp>
        <p:cxnSp>
          <p:nvCxnSpPr>
            <p:cNvPr id="12" name="Curved Connector 11">
              <a:extLst>
                <a:ext uri="{FF2B5EF4-FFF2-40B4-BE49-F238E27FC236}">
                  <a16:creationId xmlns:a16="http://schemas.microsoft.com/office/drawing/2014/main" id="{889ABB20-3C06-0A19-5D29-878F934125E2}"/>
                </a:ext>
              </a:extLst>
            </p:cNvPr>
            <p:cNvCxnSpPr>
              <a:stCxn id="4" idx="0"/>
              <a:endCxn id="8" idx="2"/>
            </p:cNvCxnSpPr>
            <p:nvPr/>
          </p:nvCxnSpPr>
          <p:spPr>
            <a:xfrm rot="5400000" flipH="1" flipV="1">
              <a:off x="8173459" y="2989312"/>
              <a:ext cx="1062259" cy="2764972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F16F540-CD74-7A6B-9EAC-D53DDAEAC926}"/>
                </a:ext>
              </a:extLst>
            </p:cNvPr>
            <p:cNvCxnSpPr>
              <a:stCxn id="4" idx="0"/>
              <a:endCxn id="5" idx="2"/>
            </p:cNvCxnSpPr>
            <p:nvPr/>
          </p:nvCxnSpPr>
          <p:spPr>
            <a:xfrm flipV="1">
              <a:off x="7322102" y="3840668"/>
              <a:ext cx="0" cy="10622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urved Connector 20">
              <a:extLst>
                <a:ext uri="{FF2B5EF4-FFF2-40B4-BE49-F238E27FC236}">
                  <a16:creationId xmlns:a16="http://schemas.microsoft.com/office/drawing/2014/main" id="{9D576EF6-4146-7068-F15C-6A5734729BDC}"/>
                </a:ext>
              </a:extLst>
            </p:cNvPr>
            <p:cNvCxnSpPr>
              <a:stCxn id="4" idx="0"/>
              <a:endCxn id="7" idx="2"/>
            </p:cNvCxnSpPr>
            <p:nvPr/>
          </p:nvCxnSpPr>
          <p:spPr>
            <a:xfrm rot="16200000" flipV="1">
              <a:off x="5408487" y="2989312"/>
              <a:ext cx="1062259" cy="2764972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67ECAD7-2135-6F3E-54B9-3EA1F2BF5B75}"/>
              </a:ext>
            </a:extLst>
          </p:cNvPr>
          <p:cNvSpPr/>
          <p:nvPr/>
        </p:nvSpPr>
        <p:spPr>
          <a:xfrm>
            <a:off x="9175915" y="2465564"/>
            <a:ext cx="2533452" cy="108772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Independent Study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7627D13-68A3-A604-1452-C884C783AF2A}"/>
              </a:ext>
            </a:extLst>
          </p:cNvPr>
          <p:cNvSpPr/>
          <p:nvPr/>
        </p:nvSpPr>
        <p:spPr>
          <a:xfrm>
            <a:off x="9175915" y="3784300"/>
            <a:ext cx="2533452" cy="108772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Public Safety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1A31DB2-D983-1A20-55B4-22242090A220}"/>
              </a:ext>
            </a:extLst>
          </p:cNvPr>
          <p:cNvSpPr/>
          <p:nvPr/>
        </p:nvSpPr>
        <p:spPr>
          <a:xfrm>
            <a:off x="9175915" y="5159404"/>
            <a:ext cx="2533452" cy="108772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 108</a:t>
            </a:r>
          </a:p>
          <a:p>
            <a:pPr algn="ctr"/>
            <a:r>
              <a:rPr lang="en-US" dirty="0"/>
              <a:t>BVLOS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34EC50-2733-0243-29D7-2CA051DF8642}"/>
              </a:ext>
            </a:extLst>
          </p:cNvPr>
          <p:cNvSpPr txBox="1"/>
          <p:nvPr/>
        </p:nvSpPr>
        <p:spPr>
          <a:xfrm>
            <a:off x="3508881" y="1852485"/>
            <a:ext cx="1547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47CCD0-6C16-FE31-3423-8E8EEE25ADF1}"/>
              </a:ext>
            </a:extLst>
          </p:cNvPr>
          <p:cNvSpPr txBox="1"/>
          <p:nvPr/>
        </p:nvSpPr>
        <p:spPr>
          <a:xfrm>
            <a:off x="9208135" y="1852485"/>
            <a:ext cx="2469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Supplemental Courses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B873E8-C879-C5F5-59C4-A561764A0B37}"/>
              </a:ext>
            </a:extLst>
          </p:cNvPr>
          <p:cNvSpPr txBox="1"/>
          <p:nvPr/>
        </p:nvSpPr>
        <p:spPr>
          <a:xfrm>
            <a:off x="10049744" y="6200487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. . </a:t>
            </a:r>
          </a:p>
        </p:txBody>
      </p:sp>
    </p:spTree>
    <p:extLst>
      <p:ext uri="{BB962C8B-B14F-4D97-AF65-F5344CB8AC3E}">
        <p14:creationId xmlns:p14="http://schemas.microsoft.com/office/powerpoint/2010/main" val="1215120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8D7F-AC65-DB2C-451D-FD3B1958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47117" cy="1325563"/>
          </a:xfrm>
        </p:spPr>
        <p:txBody>
          <a:bodyPr/>
          <a:lstStyle/>
          <a:p>
            <a:r>
              <a:rPr lang="en-US" dirty="0"/>
              <a:t>AERO 100: Basic UAV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83C63-0FEF-C381-6CDD-4579CABBF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003" y="1825624"/>
            <a:ext cx="6256763" cy="4753595"/>
          </a:xfrm>
        </p:spPr>
        <p:txBody>
          <a:bodyPr/>
          <a:lstStyle/>
          <a:p>
            <a:r>
              <a:rPr lang="en-US" dirty="0"/>
              <a:t>Three goals:</a:t>
            </a:r>
          </a:p>
          <a:p>
            <a:pPr lvl="1"/>
            <a:r>
              <a:rPr lang="en-US" dirty="0"/>
              <a:t>Acquire Part 107</a:t>
            </a:r>
          </a:p>
          <a:p>
            <a:pPr lvl="1"/>
            <a:r>
              <a:rPr lang="en-US" dirty="0"/>
              <a:t>Demonstrate flight competency</a:t>
            </a:r>
          </a:p>
          <a:p>
            <a:pPr lvl="1"/>
            <a:r>
              <a:rPr lang="en-US" dirty="0"/>
              <a:t>Understand drone fundamentals</a:t>
            </a:r>
          </a:p>
          <a:p>
            <a:r>
              <a:rPr lang="en-US" dirty="0"/>
              <a:t>2 lecture 3 lab hours per week</a:t>
            </a:r>
          </a:p>
          <a:p>
            <a:r>
              <a:rPr lang="en-US" dirty="0"/>
              <a:t>NIST level 1-3 open test lane for flight competency</a:t>
            </a:r>
          </a:p>
          <a:p>
            <a:r>
              <a:rPr lang="en-US" dirty="0"/>
              <a:t>Explore concepts of drones with curated DIY build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FA96B6-F530-4316-742B-57E9B37B83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86250" y="152335"/>
            <a:ext cx="4443682" cy="3393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AFFA2F-B221-81AE-766E-C935BCBFB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948" y="3626974"/>
            <a:ext cx="3922287" cy="30786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42-EF22-F883-52C9-6E4BE97D24CD}"/>
              </a:ext>
            </a:extLst>
          </p:cNvPr>
          <p:cNvSpPr txBox="1"/>
          <p:nvPr/>
        </p:nvSpPr>
        <p:spPr>
          <a:xfrm>
            <a:off x="9981926" y="6333593"/>
            <a:ext cx="1848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@hoardersam10</a:t>
            </a:r>
          </a:p>
        </p:txBody>
      </p:sp>
    </p:spTree>
    <p:extLst>
      <p:ext uri="{BB962C8B-B14F-4D97-AF65-F5344CB8AC3E}">
        <p14:creationId xmlns:p14="http://schemas.microsoft.com/office/powerpoint/2010/main" val="64563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B702-2430-88E3-9AA7-2A833A4F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Drone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B7788-6044-11BA-0D76-543A77BC8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4302"/>
            <a:ext cx="6320246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Goal: Prepare students to create high-quality spatial data</a:t>
            </a:r>
          </a:p>
          <a:p>
            <a:r>
              <a:rPr lang="en-US" dirty="0"/>
              <a:t>Primarily focused on color orthomosaics</a:t>
            </a:r>
          </a:p>
          <a:p>
            <a:pPr lvl="1"/>
            <a:r>
              <a:rPr lang="en-US" dirty="0" err="1"/>
              <a:t>flexiblity</a:t>
            </a:r>
            <a:r>
              <a:rPr lang="en-US" dirty="0"/>
              <a:t> to include multi-spec and guest LiDAR labs</a:t>
            </a:r>
          </a:p>
          <a:p>
            <a:r>
              <a:rPr lang="en-US" dirty="0"/>
              <a:t>Flight planning, data collection, GCPs, processing, quality assurance, delivery</a:t>
            </a:r>
          </a:p>
          <a:p>
            <a:r>
              <a:rPr lang="en-US" dirty="0"/>
              <a:t>Opportunities to collaborate with local entities</a:t>
            </a:r>
          </a:p>
          <a:p>
            <a:r>
              <a:rPr lang="en-US" i="1" dirty="0"/>
              <a:t>Not </a:t>
            </a:r>
            <a:r>
              <a:rPr lang="en-US" dirty="0"/>
              <a:t>a GIS course</a:t>
            </a:r>
          </a:p>
        </p:txBody>
      </p:sp>
      <p:pic>
        <p:nvPicPr>
          <p:cNvPr id="5" name="Content Placeholder 4" descr="DJI Matrice 4 Enterprise Drone Combo | Advexure">
            <a:extLst>
              <a:ext uri="{FF2B5EF4-FFF2-40B4-BE49-F238E27FC236}">
                <a16:creationId xmlns:a16="http://schemas.microsoft.com/office/drawing/2014/main" id="{6F39B79D-1A37-E38E-8CF4-833ED23434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7255" b="20635"/>
          <a:stretch>
            <a:fillRect/>
          </a:stretch>
        </p:blipFill>
        <p:spPr>
          <a:xfrm>
            <a:off x="7616283" y="111511"/>
            <a:ext cx="4575717" cy="2384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F1FA6-EB25-2E4D-EC1A-B341E49CB2FE}"/>
              </a:ext>
            </a:extLst>
          </p:cNvPr>
          <p:cNvSpPr txBox="1"/>
          <p:nvPr/>
        </p:nvSpPr>
        <p:spPr>
          <a:xfrm>
            <a:off x="9121698" y="2311238"/>
            <a:ext cx="1573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DJI Matrice 4E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A23717-469F-792A-C1C5-475D49E39F30}"/>
              </a:ext>
            </a:extLst>
          </p:cNvPr>
          <p:cNvSpPr txBox="1">
            <a:spLocks/>
          </p:cNvSpPr>
          <p:nvPr/>
        </p:nvSpPr>
        <p:spPr>
          <a:xfrm>
            <a:off x="7616283" y="3301120"/>
            <a:ext cx="4432024" cy="354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Questions:</a:t>
            </a:r>
          </a:p>
          <a:p>
            <a:pPr lvl="1"/>
            <a:r>
              <a:rPr lang="en-US" dirty="0"/>
              <a:t>NDAA compliant drones?</a:t>
            </a:r>
          </a:p>
          <a:p>
            <a:pPr lvl="1"/>
            <a:r>
              <a:rPr lang="en-US" dirty="0"/>
              <a:t>Best mapping and processing software to teach?</a:t>
            </a:r>
          </a:p>
          <a:p>
            <a:pPr lvl="1"/>
            <a:r>
              <a:rPr lang="en-US" dirty="0"/>
              <a:t>Lecture/lab time?</a:t>
            </a:r>
          </a:p>
        </p:txBody>
      </p:sp>
    </p:spTree>
    <p:extLst>
      <p:ext uri="{BB962C8B-B14F-4D97-AF65-F5344CB8AC3E}">
        <p14:creationId xmlns:p14="http://schemas.microsoft.com/office/powerpoint/2010/main" val="378297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5BA9-E032-7C6E-F799-6FE032D5D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2D455-658B-FF26-74E3-884E2DC8F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42166" cy="4351338"/>
          </a:xfrm>
        </p:spPr>
        <p:txBody>
          <a:bodyPr/>
          <a:lstStyle/>
          <a:p>
            <a:r>
              <a:rPr lang="en-US" dirty="0"/>
              <a:t>Goals:</a:t>
            </a:r>
          </a:p>
          <a:p>
            <a:pPr lvl="1"/>
            <a:r>
              <a:rPr lang="en-US" dirty="0"/>
              <a:t>Prepare students for utility and infrastructure inspection</a:t>
            </a:r>
          </a:p>
          <a:p>
            <a:pPr lvl="1"/>
            <a:r>
              <a:rPr lang="en-US" dirty="0"/>
              <a:t>Prepare students for Level 1 Thermography certification</a:t>
            </a:r>
          </a:p>
          <a:p>
            <a:r>
              <a:rPr lang="en-US" dirty="0"/>
              <a:t>Focus on how to fly safely near energized equipment and what to look for</a:t>
            </a:r>
          </a:p>
          <a:p>
            <a:r>
              <a:rPr lang="en-US" dirty="0"/>
              <a:t>Primarily targeted at energy sector, like PG&amp;E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61D86-B771-15A5-2CEA-2E340FE61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3177" y="3257005"/>
            <a:ext cx="3587931" cy="2919957"/>
          </a:xfrm>
        </p:spPr>
        <p:txBody>
          <a:bodyPr/>
          <a:lstStyle/>
          <a:p>
            <a:r>
              <a:rPr lang="en-US" dirty="0"/>
              <a:t>Questions:</a:t>
            </a:r>
          </a:p>
          <a:p>
            <a:pPr lvl="1"/>
            <a:r>
              <a:rPr lang="en-US" dirty="0"/>
              <a:t>NDAA Compliance?</a:t>
            </a:r>
          </a:p>
          <a:p>
            <a:pPr lvl="1"/>
            <a:r>
              <a:rPr lang="en-US" dirty="0"/>
              <a:t>Do you know anyone who can advise?</a:t>
            </a:r>
          </a:p>
          <a:p>
            <a:pPr lvl="1"/>
            <a:endParaRPr lang="en-US" dirty="0"/>
          </a:p>
        </p:txBody>
      </p:sp>
      <p:pic>
        <p:nvPicPr>
          <p:cNvPr id="5" name="Picture 4" descr="Matrice 4T - Avetics">
            <a:extLst>
              <a:ext uri="{FF2B5EF4-FFF2-40B4-BE49-F238E27FC236}">
                <a16:creationId xmlns:a16="http://schemas.microsoft.com/office/drawing/2014/main" id="{1F3E5589-93A4-AAEB-0A30-98CA039A5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067" y="-542245"/>
            <a:ext cx="5732417" cy="3224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5F0540-8B86-DE6A-5136-676A8087A84F}"/>
              </a:ext>
            </a:extLst>
          </p:cNvPr>
          <p:cNvSpPr txBox="1"/>
          <p:nvPr/>
        </p:nvSpPr>
        <p:spPr>
          <a:xfrm>
            <a:off x="8634018" y="1936769"/>
            <a:ext cx="155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DJI Matrice 4T</a:t>
            </a:r>
          </a:p>
        </p:txBody>
      </p:sp>
    </p:spTree>
    <p:extLst>
      <p:ext uri="{BB962C8B-B14F-4D97-AF65-F5344CB8AC3E}">
        <p14:creationId xmlns:p14="http://schemas.microsoft.com/office/powerpoint/2010/main" val="255115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E51C-E6B2-1039-F7FF-86188D5E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Certificates of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2AB10-32B6-9756-8E47-1AE2895BC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91682"/>
            <a:ext cx="5181600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000" b="1" dirty="0"/>
              <a:t>UAV Mapping (9.0 units)</a:t>
            </a:r>
            <a:endParaRPr lang="en-US" sz="2000" dirty="0"/>
          </a:p>
          <a:p>
            <a:pPr lvl="1"/>
            <a:r>
              <a:rPr lang="en-US" sz="2000" dirty="0"/>
              <a:t>Basic UAV Operator</a:t>
            </a:r>
          </a:p>
          <a:p>
            <a:pPr lvl="1"/>
            <a:r>
              <a:rPr lang="en-US" sz="2000" dirty="0"/>
              <a:t>Introduction to Geographic Information Systems</a:t>
            </a:r>
          </a:p>
          <a:p>
            <a:pPr lvl="1"/>
            <a:r>
              <a:rPr lang="en-US" sz="2000" dirty="0"/>
              <a:t>Advanced Drone Mapping</a:t>
            </a:r>
          </a:p>
          <a:p>
            <a:pPr lvl="0"/>
            <a:r>
              <a:rPr lang="en-US" sz="2000" b="1" dirty="0"/>
              <a:t>UAV Inspection (6.0 units)</a:t>
            </a:r>
            <a:endParaRPr lang="en-US" sz="2000" dirty="0"/>
          </a:p>
          <a:p>
            <a:pPr lvl="1"/>
            <a:r>
              <a:rPr lang="en-US" sz="2000" dirty="0"/>
              <a:t>Basic UAV Operator</a:t>
            </a:r>
          </a:p>
          <a:p>
            <a:pPr lvl="1"/>
            <a:r>
              <a:rPr lang="en-US" sz="2000" dirty="0"/>
              <a:t>Drone Infrastructure Inspection</a:t>
            </a:r>
          </a:p>
          <a:p>
            <a:pPr lvl="0"/>
            <a:r>
              <a:rPr lang="en-US" sz="2000" b="1" dirty="0"/>
              <a:t>UAV Videography (9.0 units)</a:t>
            </a:r>
            <a:endParaRPr lang="en-US" sz="2000" dirty="0"/>
          </a:p>
          <a:p>
            <a:pPr lvl="1"/>
            <a:r>
              <a:rPr lang="en-US" sz="2000" dirty="0"/>
              <a:t>Basic UAV Operator</a:t>
            </a:r>
          </a:p>
          <a:p>
            <a:pPr lvl="1"/>
            <a:r>
              <a:rPr lang="en-US" sz="2000" dirty="0"/>
              <a:t>Digital Photography I</a:t>
            </a:r>
          </a:p>
          <a:p>
            <a:pPr lvl="1"/>
            <a:r>
              <a:rPr lang="en-US" sz="2000" dirty="0"/>
              <a:t>Single Camera TV Production and Editing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BDBCD-829E-90F6-7C9B-B8E23FF89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91682"/>
            <a:ext cx="5181600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000" b="1" dirty="0"/>
              <a:t>UAV Crop Monitoring (9.0 units)</a:t>
            </a:r>
            <a:endParaRPr lang="en-US" sz="2000" dirty="0"/>
          </a:p>
          <a:p>
            <a:pPr lvl="1"/>
            <a:r>
              <a:rPr lang="en-US" sz="2000" dirty="0"/>
              <a:t>Basic UAV Operator</a:t>
            </a:r>
          </a:p>
          <a:p>
            <a:pPr lvl="1"/>
            <a:r>
              <a:rPr lang="en-US" sz="2000" dirty="0"/>
              <a:t>Advanced Drone Mapping</a:t>
            </a:r>
          </a:p>
          <a:p>
            <a:pPr lvl="1"/>
            <a:r>
              <a:rPr lang="en-US" sz="2000" dirty="0"/>
              <a:t>Introduction to Plant Science</a:t>
            </a:r>
          </a:p>
          <a:p>
            <a:pPr lvl="0"/>
            <a:r>
              <a:rPr lang="en-US" sz="2000" b="1" dirty="0"/>
              <a:t>UAV Spray Operations (9.0 units)</a:t>
            </a:r>
            <a:endParaRPr lang="en-US" sz="2000" dirty="0"/>
          </a:p>
          <a:p>
            <a:pPr lvl="1"/>
            <a:r>
              <a:rPr lang="en-US" sz="2000" dirty="0"/>
              <a:t>Basic UAV Operator</a:t>
            </a:r>
          </a:p>
          <a:p>
            <a:pPr lvl="1"/>
            <a:r>
              <a:rPr lang="en-US" sz="2000" dirty="0"/>
              <a:t>Introduction to Plant Science</a:t>
            </a:r>
          </a:p>
          <a:p>
            <a:pPr lvl="1"/>
            <a:r>
              <a:rPr lang="en-US" sz="2000" dirty="0"/>
              <a:t>Agricultural Spraying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51BD81-D8AC-B006-04B2-2B574E0977A6}"/>
              </a:ext>
            </a:extLst>
          </p:cNvPr>
          <p:cNvSpPr txBox="1">
            <a:spLocks/>
          </p:cNvSpPr>
          <p:nvPr/>
        </p:nvSpPr>
        <p:spPr>
          <a:xfrm>
            <a:off x="876843" y="1569380"/>
            <a:ext cx="10285913" cy="720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Shorter, focused credential for specific occupational roles</a:t>
            </a:r>
          </a:p>
        </p:txBody>
      </p:sp>
    </p:spTree>
    <p:extLst>
      <p:ext uri="{BB962C8B-B14F-4D97-AF65-F5344CB8AC3E}">
        <p14:creationId xmlns:p14="http://schemas.microsoft.com/office/powerpoint/2010/main" val="9905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EAE2-B099-CDD0-5E67-C598D287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of Achievement (UAV Technology)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7F171-B100-C42B-CA2A-635DBB0F9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9174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State-recognized credential for a more comprehensive program of study</a:t>
            </a:r>
          </a:p>
          <a:p>
            <a:r>
              <a:rPr lang="en-US" dirty="0"/>
              <a:t>Requirements</a:t>
            </a:r>
          </a:p>
          <a:p>
            <a:pPr lvl="1"/>
            <a:r>
              <a:rPr lang="en-US" dirty="0"/>
              <a:t>AERO 100</a:t>
            </a:r>
          </a:p>
          <a:p>
            <a:pPr lvl="1"/>
            <a:r>
              <a:rPr lang="en-US" dirty="0"/>
              <a:t>Two AERO electives</a:t>
            </a:r>
          </a:p>
          <a:p>
            <a:pPr lvl="2"/>
            <a:r>
              <a:rPr lang="en-US" dirty="0"/>
              <a:t>Mapping, inspection, etc.</a:t>
            </a:r>
          </a:p>
          <a:p>
            <a:pPr lvl="1"/>
            <a:r>
              <a:rPr lang="en-US" dirty="0"/>
              <a:t>Two support courses</a:t>
            </a:r>
          </a:p>
          <a:p>
            <a:pPr lvl="1"/>
            <a:r>
              <a:rPr lang="en-US" dirty="0"/>
              <a:t>One AERO supplemental class</a:t>
            </a:r>
          </a:p>
          <a:p>
            <a:pPr lvl="1"/>
            <a:r>
              <a:rPr lang="en-US" dirty="0"/>
              <a:t>16 units total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8D309-5C42-6E69-4731-01F2A5280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29943" y="1825625"/>
            <a:ext cx="6278879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Supported outside courses</a:t>
            </a:r>
          </a:p>
          <a:p>
            <a:pPr lvl="1"/>
            <a:r>
              <a:rPr lang="en-US" sz="2200" dirty="0"/>
              <a:t>Introduction to Geographic Information Systems</a:t>
            </a:r>
          </a:p>
          <a:p>
            <a:pPr lvl="1"/>
            <a:r>
              <a:rPr lang="en-US" sz="2200" dirty="0"/>
              <a:t>Advanced Geographic Information Systems</a:t>
            </a:r>
          </a:p>
          <a:p>
            <a:pPr lvl="1"/>
            <a:r>
              <a:rPr lang="en-US" sz="2200" dirty="0"/>
              <a:t>Web Applications in GIS</a:t>
            </a:r>
          </a:p>
          <a:p>
            <a:pPr lvl="1"/>
            <a:r>
              <a:rPr lang="en-US" sz="2200" dirty="0"/>
              <a:t>Data Acquisition and Management in GIS</a:t>
            </a:r>
          </a:p>
          <a:p>
            <a:pPr lvl="1"/>
            <a:r>
              <a:rPr lang="en-US" sz="2200" dirty="0"/>
              <a:t>Introduction to Remote Sensing</a:t>
            </a:r>
          </a:p>
          <a:p>
            <a:pPr lvl="1"/>
            <a:r>
              <a:rPr lang="en-US" sz="2200" dirty="0"/>
              <a:t>Physical Geography</a:t>
            </a:r>
          </a:p>
          <a:p>
            <a:pPr lvl="1"/>
            <a:r>
              <a:rPr lang="en-US" sz="2200" dirty="0"/>
              <a:t>Plane Surveying</a:t>
            </a:r>
          </a:p>
          <a:p>
            <a:pPr lvl="1"/>
            <a:r>
              <a:rPr lang="en-US" sz="2200" dirty="0"/>
              <a:t>Introduction to Plant Science</a:t>
            </a:r>
          </a:p>
          <a:p>
            <a:pPr lvl="1"/>
            <a:r>
              <a:rPr lang="en-US" sz="2200" dirty="0"/>
              <a:t>Introduction to Viticulture</a:t>
            </a:r>
          </a:p>
          <a:p>
            <a:pPr lvl="1"/>
            <a:r>
              <a:rPr lang="en-US" sz="2200" dirty="0"/>
              <a:t>Digital Photography I</a:t>
            </a:r>
          </a:p>
          <a:p>
            <a:pPr lvl="1"/>
            <a:r>
              <a:rPr lang="en-US" sz="2200" dirty="0"/>
              <a:t>Digital Photography II</a:t>
            </a:r>
          </a:p>
          <a:p>
            <a:pPr lvl="1"/>
            <a:r>
              <a:rPr lang="en-US" sz="2200" dirty="0"/>
              <a:t>Single Camera TV Production and Editing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631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3DEE-BC6C-0FD6-E7FC-B8CBAA1F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Vote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36AC4-6338-3AED-8779-158365137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19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472</Words>
  <Application>Microsoft Macintosh PowerPoint</Application>
  <PresentationFormat>Widescreen</PresentationFormat>
  <Paragraphs>107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Cuesta College Drone Program Advisory Committee Meeting</vt:lpstr>
      <vt:lpstr>Agenda</vt:lpstr>
      <vt:lpstr>Introductions</vt:lpstr>
      <vt:lpstr>Skilled Trades and Technology Programs</vt:lpstr>
      <vt:lpstr>Target Students</vt:lpstr>
      <vt:lpstr>Program Structure</vt:lpstr>
      <vt:lpstr>AERO 100: Basic UAV Operator</vt:lpstr>
      <vt:lpstr>Advanced Drone Mapping</vt:lpstr>
      <vt:lpstr>Infrastructure Inspection</vt:lpstr>
      <vt:lpstr>Certificates of Specialization</vt:lpstr>
      <vt:lpstr>Certificate of Achievement (UAV Technology) </vt:lpstr>
      <vt:lpstr>Recommendation Vote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Nessen</dc:creator>
  <cp:lastModifiedBy>Kyle Nessen</cp:lastModifiedBy>
  <cp:revision>5</cp:revision>
  <dcterms:created xsi:type="dcterms:W3CDTF">2026-08-11T19:33:48Z</dcterms:created>
  <dcterms:modified xsi:type="dcterms:W3CDTF">2026-08-11T22:23:07Z</dcterms:modified>
</cp:coreProperties>
</file>